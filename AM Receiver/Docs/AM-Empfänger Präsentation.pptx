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y Grotesk Wide Bold" charset="1" panose="00000805000000000000"/>
      <p:regular r:id="rId15"/>
    </p:embeddedFont>
    <p:embeddedFont>
      <p:font typeface="Garet Bold" charset="1" panose="00000000000000000000"/>
      <p:regular r:id="rId16"/>
    </p:embeddedFont>
    <p:embeddedFont>
      <p:font typeface="Garet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svg" Type="http://schemas.openxmlformats.org/officeDocument/2006/relationships/image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7250" y="762000"/>
            <a:ext cx="17160481" cy="511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0"/>
              </a:lnSpc>
              <a:spcBef>
                <a:spcPct val="0"/>
              </a:spcBef>
            </a:pPr>
            <a:r>
              <a:rPr lang="en-US" b="true" sz="14000" spc="-1050">
                <a:solidFill>
                  <a:srgbClr val="FFFFFF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AM-EMPFÄNGER</a:t>
            </a:r>
          </a:p>
          <a:p>
            <a:pPr algn="ctr" marL="0" indent="0" lvl="0">
              <a:lnSpc>
                <a:spcPts val="21566"/>
              </a:lnSpc>
              <a:spcBef>
                <a:spcPct val="0"/>
              </a:spcBef>
            </a:pPr>
            <a:r>
              <a:rPr lang="en-US" b="true" sz="15404" spc="-1155">
                <a:solidFill>
                  <a:srgbClr val="FFFFFF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PCB DESIGN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77195" y="2057400"/>
            <a:ext cx="7647608" cy="2465281"/>
            <a:chOff x="0" y="0"/>
            <a:chExt cx="6268847" cy="20208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1" y="0"/>
              <a:ext cx="6268836" cy="2020849"/>
            </a:xfrm>
            <a:custGeom>
              <a:avLst/>
              <a:gdLst/>
              <a:ahLst/>
              <a:cxnLst/>
              <a:rect r="r" b="b" t="t" l="l"/>
              <a:pathLst>
                <a:path h="2020849" w="6268836">
                  <a:moveTo>
                    <a:pt x="5983086" y="971169"/>
                  </a:moveTo>
                  <a:cubicBezTo>
                    <a:pt x="6140312" y="938022"/>
                    <a:pt x="6268836" y="779399"/>
                    <a:pt x="6268836" y="618744"/>
                  </a:cubicBezTo>
                  <a:lnTo>
                    <a:pt x="6268836" y="292100"/>
                  </a:lnTo>
                  <a:cubicBezTo>
                    <a:pt x="6268836" y="131445"/>
                    <a:pt x="6137391" y="0"/>
                    <a:pt x="5976736" y="0"/>
                  </a:cubicBezTo>
                  <a:lnTo>
                    <a:pt x="210936" y="0"/>
                  </a:lnTo>
                  <a:cubicBezTo>
                    <a:pt x="50281" y="0"/>
                    <a:pt x="-37603" y="124079"/>
                    <a:pt x="15483" y="275590"/>
                  </a:cubicBezTo>
                  <a:lnTo>
                    <a:pt x="655309" y="1798955"/>
                  </a:lnTo>
                  <a:cubicBezTo>
                    <a:pt x="708522" y="1950593"/>
                    <a:pt x="880607" y="2047494"/>
                    <a:pt x="1037833" y="2014347"/>
                  </a:cubicBezTo>
                  <a:lnTo>
                    <a:pt x="5983086" y="971169"/>
                  </a:lnTo>
                  <a:close/>
                </a:path>
              </a:pathLst>
            </a:custGeom>
            <a:blipFill>
              <a:blip r:embed="rId2"/>
              <a:stretch>
                <a:fillRect l="0" t="-21" r="0" b="-2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2057400"/>
            <a:ext cx="5902025" cy="7200900"/>
            <a:chOff x="0" y="0"/>
            <a:chExt cx="5160264" cy="62958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60251" cy="6295822"/>
            </a:xfrm>
            <a:custGeom>
              <a:avLst/>
              <a:gdLst/>
              <a:ahLst/>
              <a:cxnLst/>
              <a:rect r="r" b="b" t="t" l="l"/>
              <a:pathLst>
                <a:path h="6295822" w="5160251">
                  <a:moveTo>
                    <a:pt x="292100" y="0"/>
                  </a:moveTo>
                  <a:cubicBezTo>
                    <a:pt x="131445" y="0"/>
                    <a:pt x="0" y="131445"/>
                    <a:pt x="0" y="292100"/>
                  </a:cubicBezTo>
                  <a:lnTo>
                    <a:pt x="0" y="6057900"/>
                  </a:lnTo>
                  <a:cubicBezTo>
                    <a:pt x="0" y="6218555"/>
                    <a:pt x="128651" y="6322822"/>
                    <a:pt x="285750" y="6289675"/>
                  </a:cubicBezTo>
                  <a:lnTo>
                    <a:pt x="4955286" y="5304663"/>
                  </a:lnTo>
                  <a:cubicBezTo>
                    <a:pt x="5112512" y="5271516"/>
                    <a:pt x="5197602" y="5120386"/>
                    <a:pt x="5144389" y="4968748"/>
                  </a:cubicBezTo>
                  <a:lnTo>
                    <a:pt x="3498469" y="275590"/>
                  </a:lnTo>
                  <a:cubicBezTo>
                    <a:pt x="3445383" y="124079"/>
                    <a:pt x="3270377" y="0"/>
                    <a:pt x="3109722" y="0"/>
                  </a:cubicBezTo>
                  <a:lnTo>
                    <a:pt x="292100" y="0"/>
                  </a:lnTo>
                  <a:close/>
                </a:path>
              </a:pathLst>
            </a:custGeom>
            <a:blipFill>
              <a:blip r:embed="rId3"/>
              <a:stretch>
                <a:fillRect l="0" t="-53" r="0" b="-53"/>
              </a:stretch>
            </a:blipFill>
          </p:spPr>
        </p:sp>
      </p:grpSp>
      <p:sp>
        <p:nvSpPr>
          <p:cNvPr name="AutoShape 6" id="6"/>
          <p:cNvSpPr/>
          <p:nvPr/>
        </p:nvSpPr>
        <p:spPr>
          <a:xfrm>
            <a:off x="7397178" y="6945701"/>
            <a:ext cx="10235066" cy="0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7401409" y="4977421"/>
            <a:ext cx="8172742" cy="680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79"/>
              </a:lnSpc>
            </a:pPr>
            <a:r>
              <a:rPr lang="en-US" b="true" sz="5532" spc="-414">
                <a:solidFill>
                  <a:srgbClr val="FFFFFF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PROJEKTÜBERBLICK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97178" y="6009359"/>
            <a:ext cx="4035792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  <a:spcBef>
                <a:spcPct val="0"/>
              </a:spcBef>
            </a:pPr>
            <a:r>
              <a:rPr lang="en-US" b="true" sz="1798" spc="-3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HF-SIGNALPFAD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50421" y="7756395"/>
            <a:ext cx="3528066" cy="1749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3"/>
              </a:lnSpc>
              <a:spcBef>
                <a:spcPct val="0"/>
              </a:spcBef>
            </a:pPr>
            <a:r>
              <a:rPr lang="en-US" sz="1252" spc="-2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AM-Empfäng</a:t>
            </a:r>
            <a:r>
              <a:rPr lang="en-US" sz="1252" spc="-2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er für den unteren MHz-Rundfunkbereich. Die wichtigsten Baugruppen sind ein MMBFJ310-HF-Eingangsverstärker, SA612AD-Mischerstufen, ein SFZ455A-455-kHz-Keramik-ZF-Filter, ein TDA1072AT-ZF-/Demodulator-IC, ein BC547/BC557-Audiotreiber sowie geregelte +5-V- und +8-V-Versorgungsschienen.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50421" y="7312413"/>
            <a:ext cx="3528066" cy="215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3"/>
              </a:lnSpc>
              <a:spcBef>
                <a:spcPct val="0"/>
              </a:spcBef>
            </a:pPr>
            <a:r>
              <a:rPr lang="en-US" b="true" sz="1252" spc="-2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WICHTIGE</a:t>
            </a:r>
            <a:r>
              <a:rPr lang="en-US" b="true" sz="1252" spc="-2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 SPEZIFIKATIONEN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55165" y="7756395"/>
            <a:ext cx="3528066" cy="1968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3"/>
              </a:lnSpc>
              <a:spcBef>
                <a:spcPct val="0"/>
              </a:spcBef>
            </a:pPr>
            <a:r>
              <a:rPr lang="en-US" sz="1252" spc="-2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1252" spc="-25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er Empfänger ist als vollständige AM-Signalkette aufgebaut: Antenneneingang, JFET-HF-Verstärker, SA612AD-Mischer/Oszillator, 455-kHz-ZF-Filterung, TDA1072AT-Demodulation und eine diskrete Transistor-Audioausgangsstufe. Der Aufbau ist in klar beschriftete Schaltplan- und PCB-Bereiche unterteilt, um Testen und Fehlersuche zu erleichtern.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55165" y="7312413"/>
            <a:ext cx="3528066" cy="215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3"/>
              </a:lnSpc>
              <a:spcBef>
                <a:spcPct val="0"/>
              </a:spcBef>
            </a:pPr>
            <a:r>
              <a:rPr lang="en-US" b="true" sz="1252" spc="-2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SIGNALKETTEN-ARCHITEKTUR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140479" y="782355"/>
            <a:ext cx="1118821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-2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2</a:t>
            </a:r>
            <a:r>
              <a:rPr lang="en-US" sz="1200" spc="-2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/ 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01409" y="6535172"/>
            <a:ext cx="10492541" cy="233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9"/>
              </a:lnSpc>
              <a:spcBef>
                <a:spcPct val="0"/>
              </a:spcBef>
            </a:pPr>
            <a:r>
              <a:rPr lang="en-US" b="true" sz="1299" spc="-2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ANTENNE → JFET-H</a:t>
            </a:r>
            <a:r>
              <a:rPr lang="en-US" b="true" sz="1299" spc="-2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F-VERSTÄRKER → SA612-MISCHER → 455-KHZ-ZF-FILTER → TDA1072AT → AUDIO-TREIBER → LAUTSPRECHER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338348" y="805249"/>
            <a:ext cx="299022" cy="223451"/>
          </a:xfrm>
          <a:custGeom>
            <a:avLst/>
            <a:gdLst/>
            <a:ahLst/>
            <a:cxnLst/>
            <a:rect r="r" b="b" t="t" l="l"/>
            <a:pathLst>
              <a:path h="223451" w="299022">
                <a:moveTo>
                  <a:pt x="0" y="0"/>
                </a:moveTo>
                <a:lnTo>
                  <a:pt x="299022" y="0"/>
                </a:lnTo>
                <a:lnTo>
                  <a:pt x="299022" y="223451"/>
                </a:lnTo>
                <a:lnTo>
                  <a:pt x="0" y="2234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637370" y="791880"/>
            <a:ext cx="1675108" cy="198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81"/>
              </a:lnSpc>
              <a:spcBef>
                <a:spcPct val="0"/>
              </a:spcBef>
            </a:pPr>
            <a:r>
              <a:rPr lang="en-US" b="true" sz="1201" spc="-24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AM-EMPFÄNGER PCB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35426" y="2279308"/>
            <a:ext cx="11190436" cy="5015213"/>
            <a:chOff x="0" y="0"/>
            <a:chExt cx="1898903" cy="8510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98903" cy="851030"/>
            </a:xfrm>
            <a:custGeom>
              <a:avLst/>
              <a:gdLst/>
              <a:ahLst/>
              <a:cxnLst/>
              <a:rect r="r" b="b" t="t" l="l"/>
              <a:pathLst>
                <a:path h="851030" w="1898903">
                  <a:moveTo>
                    <a:pt x="24214" y="0"/>
                  </a:moveTo>
                  <a:lnTo>
                    <a:pt x="1874688" y="0"/>
                  </a:lnTo>
                  <a:cubicBezTo>
                    <a:pt x="1888061" y="0"/>
                    <a:pt x="1898903" y="10841"/>
                    <a:pt x="1898903" y="24214"/>
                  </a:cubicBezTo>
                  <a:lnTo>
                    <a:pt x="1898903" y="826816"/>
                  </a:lnTo>
                  <a:cubicBezTo>
                    <a:pt x="1898903" y="833238"/>
                    <a:pt x="1896351" y="839397"/>
                    <a:pt x="1891810" y="843938"/>
                  </a:cubicBezTo>
                  <a:cubicBezTo>
                    <a:pt x="1887269" y="848479"/>
                    <a:pt x="1881110" y="851030"/>
                    <a:pt x="1874688" y="851030"/>
                  </a:cubicBezTo>
                  <a:lnTo>
                    <a:pt x="24214" y="851030"/>
                  </a:lnTo>
                  <a:cubicBezTo>
                    <a:pt x="17792" y="851030"/>
                    <a:pt x="11633" y="848479"/>
                    <a:pt x="7092" y="843938"/>
                  </a:cubicBezTo>
                  <a:cubicBezTo>
                    <a:pt x="2551" y="839397"/>
                    <a:pt x="0" y="833238"/>
                    <a:pt x="0" y="826816"/>
                  </a:cubicBezTo>
                  <a:lnTo>
                    <a:pt x="0" y="24214"/>
                  </a:lnTo>
                  <a:cubicBezTo>
                    <a:pt x="0" y="17792"/>
                    <a:pt x="2551" y="11633"/>
                    <a:pt x="7092" y="7092"/>
                  </a:cubicBezTo>
                  <a:cubicBezTo>
                    <a:pt x="11633" y="2551"/>
                    <a:pt x="17792" y="0"/>
                    <a:pt x="24214" y="0"/>
                  </a:cubicBezTo>
                  <a:close/>
                </a:path>
              </a:pathLst>
            </a:custGeom>
            <a:blipFill>
              <a:blip r:embed="rId2"/>
              <a:stretch>
                <a:fillRect l="-739" t="0" r="-739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>
            <a:off x="1028700" y="6046771"/>
            <a:ext cx="4362891" cy="0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2719065" y="8062182"/>
            <a:ext cx="10394362" cy="0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140479" y="782355"/>
            <a:ext cx="1118821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-2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3 / 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7733" y="563470"/>
            <a:ext cx="6994988" cy="1449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74"/>
              </a:lnSpc>
            </a:pPr>
            <a:r>
              <a:rPr lang="en-US" b="true" sz="6082" spc="-456">
                <a:solidFill>
                  <a:srgbClr val="FFFFFF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H</a:t>
            </a:r>
            <a:r>
              <a:rPr lang="en-US" b="true" sz="6082" spc="-456">
                <a:solidFill>
                  <a:srgbClr val="FFFFFF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F-EINGANG &amp; ZF-SIGNALPFAD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672326"/>
            <a:ext cx="2672526" cy="125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-2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1200" spc="-2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as Antennensignal gelangt über den Eingangsanschluss in die HF-Eingangsstufe. Das Eingangsnetzwerk übernimmt die erste Filterung und Anpassung vor der aktiven Verstärkerstufe.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333618"/>
            <a:ext cx="2672526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24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ANTENNEN-EINGANGSNETZWERK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19065" y="6747733"/>
            <a:ext cx="3510428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-2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Q100 verwendet eine JFET-C</a:t>
            </a:r>
            <a:r>
              <a:rPr lang="en-US" sz="1200" spc="-2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ommon-Source-Stufe, um vor dem Mischer eine rauscharme HF-Verstärkung bereitzustellen. Dadurch wird die Empfindlichkeit verbessert, während die Antennenschaltung nur gering belastet wird.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19065" y="6409026"/>
            <a:ext cx="2644519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24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JFET-HF-VERSTÄRKER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96377" y="8703148"/>
            <a:ext cx="3390728" cy="125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-2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Das v</a:t>
            </a:r>
            <a:r>
              <a:rPr lang="en-US" sz="1200" spc="-2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erstärkte HF-Signal ist als RF_AMP_OUT bezeichnet und wird über einen Koppelkondensator in die SA612AD-Mischerstufe geführt. Dadurch bleibt die DC-Arbeitspunkteinstellung des HF-Verstärkers vom Mischereingang getrennt.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796377" y="8364440"/>
            <a:ext cx="2644519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24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M</a:t>
            </a:r>
            <a:r>
              <a:rPr lang="en-US" b="true" sz="1200" spc="-24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ISCHER-EINGANGSSIGNAL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74924" y="8703148"/>
            <a:ext cx="3247088" cy="1255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-2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Nach d</a:t>
            </a:r>
            <a:r>
              <a:rPr lang="en-US" sz="1200" spc="-2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em Mischen durchläuft das Signal das 455-kHz-ZF-Filter und gelangt anschließend in die TDA1072AT-ZF-/Demodulatorstufe. Das demodulierte Audiosignal verlässt diesen Abschnitt als Audio_Out.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74924" y="8364440"/>
            <a:ext cx="2644519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24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ZF-</a:t>
            </a:r>
            <a:r>
              <a:rPr lang="en-US" b="true" sz="1200" spc="-24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 UND DEMODULATIONSPFAD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338348" y="805249"/>
            <a:ext cx="299022" cy="223451"/>
          </a:xfrm>
          <a:custGeom>
            <a:avLst/>
            <a:gdLst/>
            <a:ahLst/>
            <a:cxnLst/>
            <a:rect r="r" b="b" t="t" l="l"/>
            <a:pathLst>
              <a:path h="223451" w="299022">
                <a:moveTo>
                  <a:pt x="0" y="0"/>
                </a:moveTo>
                <a:lnTo>
                  <a:pt x="299022" y="0"/>
                </a:lnTo>
                <a:lnTo>
                  <a:pt x="299022" y="223451"/>
                </a:lnTo>
                <a:lnTo>
                  <a:pt x="0" y="2234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637370" y="791880"/>
            <a:ext cx="1675108" cy="198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81"/>
              </a:lnSpc>
              <a:spcBef>
                <a:spcPct val="0"/>
              </a:spcBef>
            </a:pPr>
            <a:r>
              <a:rPr lang="en-US" b="true" sz="1201" spc="-24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AM-EMPFÄNGER PCB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3189823" y="4367875"/>
            <a:ext cx="4069469" cy="0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3147180" y="7053594"/>
            <a:ext cx="4069469" cy="0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40425" y="1987929"/>
            <a:ext cx="10682853" cy="4024422"/>
          </a:xfrm>
          <a:custGeom>
            <a:avLst/>
            <a:gdLst/>
            <a:ahLst/>
            <a:cxnLst/>
            <a:rect r="r" b="b" t="t" l="l"/>
            <a:pathLst>
              <a:path h="4024422" w="10682853">
                <a:moveTo>
                  <a:pt x="0" y="0"/>
                </a:moveTo>
                <a:lnTo>
                  <a:pt x="10682854" y="0"/>
                </a:lnTo>
                <a:lnTo>
                  <a:pt x="10682854" y="4024422"/>
                </a:lnTo>
                <a:lnTo>
                  <a:pt x="0" y="40244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7330799"/>
            <a:ext cx="6279114" cy="2059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52"/>
              </a:lnSpc>
            </a:pPr>
            <a:r>
              <a:rPr lang="en-US" b="true" sz="5836" spc="-437">
                <a:solidFill>
                  <a:srgbClr val="FFFFFF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LO-MISCHER </a:t>
            </a:r>
            <a:r>
              <a:rPr lang="en-US" b="true" sz="5836" spc="-437">
                <a:solidFill>
                  <a:srgbClr val="FFFFFF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/ PLL &amp; ABSTIMMUNG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189823" y="2598448"/>
            <a:ext cx="4069477" cy="1184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7"/>
              </a:lnSpc>
              <a:spcBef>
                <a:spcPct val="0"/>
              </a:spcBef>
            </a:pPr>
            <a:r>
              <a:rPr lang="en-US" sz="1362" spc="-27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Die Oszillatorsektion des SA612AD erzeugt das lokale Oszillatorsignal, das für die Frequenzumsetzung verwendet wird. Der Oszillatorausgang wird zur weiteren Verarbeitung in die Steuersektion geführt.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89823" y="2070145"/>
            <a:ext cx="4026830" cy="232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7"/>
              </a:lnSpc>
              <a:spcBef>
                <a:spcPct val="0"/>
              </a:spcBef>
            </a:pPr>
            <a:r>
              <a:rPr lang="en-US" b="true" sz="1362" spc="-27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SA612AD-OSZILLATORSTUFE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68499" y="5405766"/>
            <a:ext cx="4069477" cy="1184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7"/>
              </a:lnSpc>
              <a:spcBef>
                <a:spcPct val="0"/>
              </a:spcBef>
            </a:pPr>
            <a:r>
              <a:rPr lang="en-US" sz="1362" spc="-27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Das</a:t>
            </a:r>
            <a:r>
              <a:rPr lang="en-US" sz="1362" spc="-27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74HC74-Flipflop teilt das Oszillatorsignal und erzeugt ein stabiles digitales Signal für die PLL-Sektion. Testpunkte sind vorgesehen, damit das geteilte Oszillatorsignal während der Fehlersuche gemessen werden kann.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68499" y="4877463"/>
            <a:ext cx="4026830" cy="232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7"/>
              </a:lnSpc>
              <a:spcBef>
                <a:spcPct val="0"/>
              </a:spcBef>
            </a:pPr>
            <a:r>
              <a:rPr lang="en-US" b="true" sz="1362" spc="-27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TEILER</a:t>
            </a:r>
            <a:r>
              <a:rPr lang="en-US" b="true" sz="1362" spc="-27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STUFE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68499" y="7969885"/>
            <a:ext cx="4069477" cy="1422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7"/>
              </a:lnSpc>
              <a:spcBef>
                <a:spcPct val="0"/>
              </a:spcBef>
            </a:pPr>
            <a:r>
              <a:rPr lang="en-US" sz="1362" spc="-27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Di</a:t>
            </a:r>
            <a:r>
              <a:rPr lang="en-US" sz="1362" spc="-27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 74HCT4046-Sektion stellt die einstellbare VCO-/PLL-bezogene Abstimmstufe bereit. Das Abstimm-Potentiometer verändert den VCO-Steuereingang, und die Teiler- sowie Testpunkte erleichtern die Überprüfung der Oszillator- und Steuersignale während der Fehlersuche.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68499" y="7441582"/>
            <a:ext cx="4026830" cy="232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7"/>
              </a:lnSpc>
              <a:spcBef>
                <a:spcPct val="0"/>
              </a:spcBef>
            </a:pPr>
            <a:r>
              <a:rPr lang="en-US" b="true" sz="1362" spc="-27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PLL- / V</a:t>
            </a:r>
            <a:r>
              <a:rPr lang="en-US" b="true" sz="1362" spc="-27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CO-STEUERUNG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40479" y="782355"/>
            <a:ext cx="1118821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-2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4/ 9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338348" y="805249"/>
            <a:ext cx="299022" cy="223451"/>
          </a:xfrm>
          <a:custGeom>
            <a:avLst/>
            <a:gdLst/>
            <a:ahLst/>
            <a:cxnLst/>
            <a:rect r="r" b="b" t="t" l="l"/>
            <a:pathLst>
              <a:path h="223451" w="299022">
                <a:moveTo>
                  <a:pt x="0" y="0"/>
                </a:moveTo>
                <a:lnTo>
                  <a:pt x="299022" y="0"/>
                </a:lnTo>
                <a:lnTo>
                  <a:pt x="299022" y="223451"/>
                </a:lnTo>
                <a:lnTo>
                  <a:pt x="0" y="2234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637370" y="791880"/>
            <a:ext cx="1675108" cy="198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81"/>
              </a:lnSpc>
              <a:spcBef>
                <a:spcPct val="0"/>
              </a:spcBef>
            </a:pPr>
            <a:r>
              <a:rPr lang="en-US" b="true" sz="1201" spc="-24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AM-EMPFÄNGER PCB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117972" y="6058741"/>
            <a:ext cx="4362891" cy="0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3808337" y="8074152"/>
            <a:ext cx="10657703" cy="0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544011" y="1684849"/>
            <a:ext cx="6828381" cy="5736769"/>
          </a:xfrm>
          <a:custGeom>
            <a:avLst/>
            <a:gdLst/>
            <a:ahLst/>
            <a:cxnLst/>
            <a:rect r="r" b="b" t="t" l="l"/>
            <a:pathLst>
              <a:path h="5736769" w="6828381">
                <a:moveTo>
                  <a:pt x="0" y="0"/>
                </a:moveTo>
                <a:lnTo>
                  <a:pt x="6828380" y="0"/>
                </a:lnTo>
                <a:lnTo>
                  <a:pt x="6828380" y="5736769"/>
                </a:lnTo>
                <a:lnTo>
                  <a:pt x="0" y="57367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140479" y="782355"/>
            <a:ext cx="1118821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-2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5 / 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856299"/>
            <a:ext cx="7641369" cy="1449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74"/>
              </a:lnSpc>
            </a:pPr>
            <a:r>
              <a:rPr lang="en-US" b="true" sz="6082" spc="-456">
                <a:solidFill>
                  <a:srgbClr val="FFFFFF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AUD</a:t>
            </a:r>
            <a:r>
              <a:rPr lang="en-US" b="true" sz="6082" spc="-456">
                <a:solidFill>
                  <a:srgbClr val="FFFFFF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IO-AUSGANGSSTUFE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17972" y="4684296"/>
            <a:ext cx="2935867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-2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Das</a:t>
            </a:r>
            <a:r>
              <a:rPr lang="en-US" sz="1200" spc="-2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demodulierte Audiosignal gelangt über Audio_Out in die Stufe und durchläuft zunächst das Lautstärke-Potentiometer, bevor es die Transistorverstärkerstufe ansteuert.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17972" y="4345588"/>
            <a:ext cx="2672526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24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LAUTS</a:t>
            </a:r>
            <a:r>
              <a:rPr lang="en-US" b="true" sz="1200" spc="-24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TÄRKEREGELUNG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08337" y="6759703"/>
            <a:ext cx="3761799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-2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Der BC547-Ei</a:t>
            </a:r>
            <a:r>
              <a:rPr lang="en-US" sz="1200" spc="-2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ngangstransistor steuert ein komplementäres BC547-/BC557-Ausgangspaar an. Das Diodennetzwerk stellt die Vorspannung der Ausgangsstufe ein und reduziert Übernahmeverzerrungen.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08337" y="6420996"/>
            <a:ext cx="2644519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24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TRANSISTOR-TREIBER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52856" y="8785669"/>
            <a:ext cx="3859623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-2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Da</a:t>
            </a:r>
            <a:r>
              <a:rPr lang="en-US" sz="1200" spc="-2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s Ausgangssignal wird über den großen Elektrolytkondensator AC-gekoppelt, bevor es den Lautsprecheranschluss erreicht. Dadurch wird Gleichspannung vom Lautsprecher blockiert, während das Audiosignal weitergegeben wird.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52856" y="8446961"/>
            <a:ext cx="2644519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24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LAUTSPRECH</a:t>
            </a:r>
            <a:r>
              <a:rPr lang="en-US" b="true" sz="1200" spc="-24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ERAUSGANG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015461" y="8785669"/>
            <a:ext cx="3450578" cy="1045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-2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1200" spc="-2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estpunkte sind am Eingang des Audiotreibers und am Lautsprecherausgang vorgesehen. Dadurch können das demodulierte Audiosignal und das finale Ausgangssignal getrennt überprüft werden.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15461" y="8446961"/>
            <a:ext cx="2644519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pc="-24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TEST</a:t>
            </a:r>
            <a:r>
              <a:rPr lang="en-US" b="true" sz="1200" spc="-24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PUNKTE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338348" y="805249"/>
            <a:ext cx="299022" cy="223451"/>
          </a:xfrm>
          <a:custGeom>
            <a:avLst/>
            <a:gdLst/>
            <a:ahLst/>
            <a:cxnLst/>
            <a:rect r="r" b="b" t="t" l="l"/>
            <a:pathLst>
              <a:path h="223451" w="299022">
                <a:moveTo>
                  <a:pt x="0" y="0"/>
                </a:moveTo>
                <a:lnTo>
                  <a:pt x="299022" y="0"/>
                </a:lnTo>
                <a:lnTo>
                  <a:pt x="299022" y="223451"/>
                </a:lnTo>
                <a:lnTo>
                  <a:pt x="0" y="2234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637370" y="791880"/>
            <a:ext cx="1675108" cy="198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81"/>
              </a:lnSpc>
              <a:spcBef>
                <a:spcPct val="0"/>
              </a:spcBef>
            </a:pPr>
            <a:r>
              <a:rPr lang="en-US" b="true" sz="1201" spc="-24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AM-EMPFÄNGER PCB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3189823" y="4367875"/>
            <a:ext cx="4069469" cy="0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3147180" y="7053594"/>
            <a:ext cx="4069469" cy="0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82557" y="2098720"/>
            <a:ext cx="11242340" cy="3913630"/>
          </a:xfrm>
          <a:custGeom>
            <a:avLst/>
            <a:gdLst/>
            <a:ahLst/>
            <a:cxnLst/>
            <a:rect r="r" b="b" t="t" l="l"/>
            <a:pathLst>
              <a:path h="3913630" w="11242340">
                <a:moveTo>
                  <a:pt x="0" y="0"/>
                </a:moveTo>
                <a:lnTo>
                  <a:pt x="11242340" y="0"/>
                </a:lnTo>
                <a:lnTo>
                  <a:pt x="11242340" y="3913631"/>
                </a:lnTo>
                <a:lnTo>
                  <a:pt x="0" y="39136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2557" y="7279176"/>
            <a:ext cx="11378344" cy="139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2"/>
              </a:lnSpc>
            </a:pPr>
            <a:r>
              <a:rPr lang="en-US" b="true" sz="5836" spc="-437">
                <a:solidFill>
                  <a:srgbClr val="FFFFFF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SPANNUNGSVERSORGUNG</a:t>
            </a:r>
          </a:p>
          <a:p>
            <a:pPr algn="l" marL="0" indent="0" lvl="0">
              <a:lnSpc>
                <a:spcPts val="5252"/>
              </a:lnSpc>
            </a:pPr>
            <a:r>
              <a:rPr lang="en-US" b="true" sz="5836" spc="-437">
                <a:solidFill>
                  <a:srgbClr val="FFFFFF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&amp; REGELUNG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189823" y="2598448"/>
            <a:ext cx="4069477" cy="946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7"/>
              </a:lnSpc>
              <a:spcBef>
                <a:spcPct val="0"/>
              </a:spcBef>
            </a:pPr>
            <a:r>
              <a:rPr lang="en-US" sz="1362" spc="-27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Di</a:t>
            </a:r>
            <a:r>
              <a:rPr lang="en-US" sz="1362" spc="-27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 Leiterplatte wird über einen geschalteten Barrel-Jack-Anschluss versorgt. VIN ist für 12 V bis 15 V ausgelegt und wird zu den Spannungsreglern weitergeführt.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89823" y="2070145"/>
            <a:ext cx="4026830" cy="232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7"/>
              </a:lnSpc>
              <a:spcBef>
                <a:spcPct val="0"/>
              </a:spcBef>
            </a:pPr>
            <a:r>
              <a:rPr lang="en-US" b="true" sz="1362" spc="-27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B</a:t>
            </a:r>
            <a:r>
              <a:rPr lang="en-US" b="true" sz="1362" spc="-27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ARREL-JACK-EINGANG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68499" y="5405766"/>
            <a:ext cx="4069477" cy="946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7"/>
              </a:lnSpc>
              <a:spcBef>
                <a:spcPct val="0"/>
              </a:spcBef>
            </a:pPr>
            <a:r>
              <a:rPr lang="en-US" sz="1362" spc="-27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1362" spc="-27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er 78L05-Regler erzeugt die +5-V-Schiene für die digitale Steuerlogik, einschließlich des 74HC74-Teilers und der 74HCT4046-PLL-/VCO-Sektion.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68499" y="4877463"/>
            <a:ext cx="4026830" cy="232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7"/>
              </a:lnSpc>
              <a:spcBef>
                <a:spcPct val="0"/>
              </a:spcBef>
            </a:pPr>
            <a:r>
              <a:rPr lang="en-US" b="true" sz="1362" spc="-27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+5 </a:t>
            </a:r>
            <a:r>
              <a:rPr lang="en-US" b="true" sz="1362" spc="-27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V REGLER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68499" y="7969885"/>
            <a:ext cx="4069477" cy="1184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7"/>
              </a:lnSpc>
              <a:spcBef>
                <a:spcPct val="0"/>
              </a:spcBef>
            </a:pPr>
            <a:r>
              <a:rPr lang="en-US" sz="1362" spc="-27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1362" spc="-27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er 78L08-Regler erzeugt die +8-V-Schiene für die HF- und analogen Empfängerstufen. Separate Entkopplungskondensatoren sind nahe an den Reglerpins platziert, um Versorgungsrauschen zu reduzieren.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68499" y="7441582"/>
            <a:ext cx="4026830" cy="232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07"/>
              </a:lnSpc>
              <a:spcBef>
                <a:spcPct val="0"/>
              </a:spcBef>
            </a:pPr>
            <a:r>
              <a:rPr lang="en-US" b="true" sz="1362" spc="-27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+8 V </a:t>
            </a:r>
            <a:r>
              <a:rPr lang="en-US" b="true" sz="1362" spc="-27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REGLER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40479" y="782355"/>
            <a:ext cx="1118821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-2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6 / 9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338348" y="805249"/>
            <a:ext cx="299022" cy="223451"/>
          </a:xfrm>
          <a:custGeom>
            <a:avLst/>
            <a:gdLst/>
            <a:ahLst/>
            <a:cxnLst/>
            <a:rect r="r" b="b" t="t" l="l"/>
            <a:pathLst>
              <a:path h="223451" w="299022">
                <a:moveTo>
                  <a:pt x="0" y="0"/>
                </a:moveTo>
                <a:lnTo>
                  <a:pt x="299022" y="0"/>
                </a:lnTo>
                <a:lnTo>
                  <a:pt x="299022" y="223451"/>
                </a:lnTo>
                <a:lnTo>
                  <a:pt x="0" y="2234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637370" y="791880"/>
            <a:ext cx="1675108" cy="198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81"/>
              </a:lnSpc>
              <a:spcBef>
                <a:spcPct val="0"/>
              </a:spcBef>
            </a:pPr>
            <a:r>
              <a:rPr lang="en-US" b="true" sz="1201" spc="-24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AM-EMPFÄNGER PCB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585927" y="6680686"/>
            <a:ext cx="10673373" cy="9525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50649" y="907703"/>
            <a:ext cx="10154457" cy="4327163"/>
            <a:chOff x="0" y="0"/>
            <a:chExt cx="871394" cy="3713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1394" cy="371331"/>
            </a:xfrm>
            <a:custGeom>
              <a:avLst/>
              <a:gdLst/>
              <a:ahLst/>
              <a:cxnLst/>
              <a:rect r="r" b="b" t="t" l="l"/>
              <a:pathLst>
                <a:path h="371331" w="871394">
                  <a:moveTo>
                    <a:pt x="26685" y="0"/>
                  </a:moveTo>
                  <a:lnTo>
                    <a:pt x="844710" y="0"/>
                  </a:lnTo>
                  <a:cubicBezTo>
                    <a:pt x="859447" y="0"/>
                    <a:pt x="871394" y="11947"/>
                    <a:pt x="871394" y="26685"/>
                  </a:cubicBezTo>
                  <a:lnTo>
                    <a:pt x="871394" y="344647"/>
                  </a:lnTo>
                  <a:cubicBezTo>
                    <a:pt x="871394" y="359384"/>
                    <a:pt x="859447" y="371331"/>
                    <a:pt x="844710" y="371331"/>
                  </a:cubicBezTo>
                  <a:lnTo>
                    <a:pt x="26685" y="371331"/>
                  </a:lnTo>
                  <a:cubicBezTo>
                    <a:pt x="11947" y="371331"/>
                    <a:pt x="0" y="359384"/>
                    <a:pt x="0" y="344647"/>
                  </a:cubicBezTo>
                  <a:lnTo>
                    <a:pt x="0" y="26685"/>
                  </a:lnTo>
                  <a:cubicBezTo>
                    <a:pt x="0" y="11947"/>
                    <a:pt x="11947" y="0"/>
                    <a:pt x="2668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03" r="0" b="-303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93539" y="6690211"/>
            <a:ext cx="5588602" cy="2465281"/>
            <a:chOff x="0" y="0"/>
            <a:chExt cx="4581053" cy="20208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1" y="0"/>
              <a:ext cx="4581041" cy="2020849"/>
            </a:xfrm>
            <a:custGeom>
              <a:avLst/>
              <a:gdLst/>
              <a:ahLst/>
              <a:cxnLst/>
              <a:rect r="r" b="b" t="t" l="l"/>
              <a:pathLst>
                <a:path h="2020849" w="4581041">
                  <a:moveTo>
                    <a:pt x="4295292" y="971169"/>
                  </a:moveTo>
                  <a:cubicBezTo>
                    <a:pt x="4452518" y="938022"/>
                    <a:pt x="4581042" y="779399"/>
                    <a:pt x="4581042" y="618744"/>
                  </a:cubicBezTo>
                  <a:lnTo>
                    <a:pt x="4581042" y="292100"/>
                  </a:lnTo>
                  <a:cubicBezTo>
                    <a:pt x="4581042" y="131445"/>
                    <a:pt x="4449596" y="0"/>
                    <a:pt x="4288942" y="0"/>
                  </a:cubicBezTo>
                  <a:lnTo>
                    <a:pt x="210936" y="0"/>
                  </a:lnTo>
                  <a:cubicBezTo>
                    <a:pt x="50281" y="0"/>
                    <a:pt x="-37603" y="124079"/>
                    <a:pt x="15483" y="275590"/>
                  </a:cubicBezTo>
                  <a:lnTo>
                    <a:pt x="655309" y="1798955"/>
                  </a:lnTo>
                  <a:cubicBezTo>
                    <a:pt x="708522" y="1950593"/>
                    <a:pt x="880607" y="2047494"/>
                    <a:pt x="1037833" y="2014347"/>
                  </a:cubicBezTo>
                  <a:lnTo>
                    <a:pt x="4295292" y="971169"/>
                  </a:lnTo>
                  <a:close/>
                </a:path>
              </a:pathLst>
            </a:custGeom>
            <a:blipFill>
              <a:blip r:embed="rId3"/>
              <a:stretch>
                <a:fillRect l="-18392" t="0" r="-18392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664193" y="878274"/>
            <a:ext cx="299022" cy="223451"/>
          </a:xfrm>
          <a:custGeom>
            <a:avLst/>
            <a:gdLst/>
            <a:ahLst/>
            <a:cxnLst/>
            <a:rect r="r" b="b" t="t" l="l"/>
            <a:pathLst>
              <a:path h="223451" w="299022">
                <a:moveTo>
                  <a:pt x="0" y="0"/>
                </a:moveTo>
                <a:lnTo>
                  <a:pt x="299022" y="0"/>
                </a:lnTo>
                <a:lnTo>
                  <a:pt x="299022" y="223451"/>
                </a:lnTo>
                <a:lnTo>
                  <a:pt x="0" y="2234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664193" y="1692435"/>
            <a:ext cx="5831752" cy="2497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79"/>
              </a:lnSpc>
            </a:pPr>
            <a:r>
              <a:rPr lang="en-US" b="true" sz="7088" spc="-531">
                <a:solidFill>
                  <a:srgbClr val="FFFFFF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PCB</a:t>
            </a:r>
          </a:p>
          <a:p>
            <a:pPr algn="l" marL="0" indent="0" lvl="0">
              <a:lnSpc>
                <a:spcPts val="6379"/>
              </a:lnSpc>
            </a:pPr>
            <a:r>
              <a:rPr lang="en-US" b="true" sz="7088" spc="-531">
                <a:solidFill>
                  <a:srgbClr val="FFFFFF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LAYOUT &amp;</a:t>
            </a:r>
          </a:p>
          <a:p>
            <a:pPr algn="l" marL="0" indent="0" lvl="0">
              <a:lnSpc>
                <a:spcPts val="6379"/>
              </a:lnSpc>
            </a:pPr>
            <a:r>
              <a:rPr lang="en-US" b="true" sz="7088" spc="-531">
                <a:solidFill>
                  <a:srgbClr val="FFFFFF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ROUTING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64193" y="4380514"/>
            <a:ext cx="5002991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  <a:spcBef>
                <a:spcPct val="0"/>
              </a:spcBef>
            </a:pPr>
            <a:r>
              <a:rPr lang="en-US" b="true" sz="1798" spc="-3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FUNK</a:t>
            </a:r>
            <a:r>
              <a:rPr lang="en-US" b="true" sz="1798" spc="-3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TIONALE PLATZIERUNG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64193" y="4833191"/>
            <a:ext cx="5565582" cy="1231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8"/>
              </a:lnSpc>
              <a:spcBef>
                <a:spcPct val="0"/>
              </a:spcBef>
            </a:pPr>
            <a:r>
              <a:rPr lang="en-US" sz="1399" spc="-27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Die Leiterplatt</a:t>
            </a:r>
            <a:r>
              <a:rPr lang="en-US" sz="1399" spc="-27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 ist in beschriftete Funktionsbereiche unterteilt: HF-Eingang, Mischer/Oszillator, ZF-Filter, ZF/Demodulation, Audioausgang, LO-Mischer/OSC, Teiler, PLL/VCO, Abstimmung und Versorgung. Dadurch lässt sich der Signalpfad von der Antenne bis zum Lautsprecher leicht nachvollziehen.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56309" y="7779385"/>
            <a:ext cx="5002991" cy="1231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8"/>
              </a:lnSpc>
              <a:spcBef>
                <a:spcPct val="0"/>
              </a:spcBef>
            </a:pPr>
            <a:r>
              <a:rPr lang="en-US" sz="1399" spc="-27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1399" spc="-27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estpunkte sind über die Leiterplatte verteilt und liegen auf wichtigen Netzen wie HF-Ausgang, Mischerausgang, ZF-Filterausgang, VCO-/Teilersignalen, Versorgungsschienen, Audiotreiber-Eingang und Lautsprecherausgang.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56309" y="7081446"/>
            <a:ext cx="5002991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  <a:spcBef>
                <a:spcPct val="0"/>
              </a:spcBef>
            </a:pPr>
            <a:r>
              <a:rPr lang="en-US" b="true" sz="1798" spc="-3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TES</a:t>
            </a:r>
            <a:r>
              <a:rPr lang="en-US" b="true" sz="1798" spc="-3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TBARKEIT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78455" y="7779385"/>
            <a:ext cx="5002991" cy="1231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58"/>
              </a:lnSpc>
              <a:spcBef>
                <a:spcPct val="0"/>
              </a:spcBef>
            </a:pPr>
            <a:r>
              <a:rPr lang="en-US" sz="1399" spc="-27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Das</a:t>
            </a:r>
            <a:r>
              <a:rPr lang="en-US" sz="1399" spc="-27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Design verwendet ein zweilagiges Layout mit Kupferflächen und vielen Masse-Vias. HF- und ZF-Leitungen sind, soweit möglich, kurz gehalten, während Audio- und Versorgungsbereiche vom empfindlichen HF-Eingang getrennt platziert sind.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78455" y="7081446"/>
            <a:ext cx="5002991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  <a:spcBef>
                <a:spcPct val="0"/>
              </a:spcBef>
            </a:pPr>
            <a:r>
              <a:rPr lang="en-US" b="true" sz="1798" spc="-3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ROU</a:t>
            </a:r>
            <a:r>
              <a:rPr lang="en-US" b="true" sz="1798" spc="-3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TING UND MASSEFÜHRUNG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140479" y="782355"/>
            <a:ext cx="1118821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-2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7 / 9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963215" y="864905"/>
            <a:ext cx="1675108" cy="198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81"/>
              </a:lnSpc>
              <a:spcBef>
                <a:spcPct val="0"/>
              </a:spcBef>
            </a:pPr>
            <a:r>
              <a:rPr lang="en-US" b="true" sz="1201" spc="-24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AM-EMPFÄNGER PCB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6" y="3557406"/>
            <a:ext cx="7406334" cy="9525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338348" y="805249"/>
            <a:ext cx="299022" cy="223451"/>
          </a:xfrm>
          <a:custGeom>
            <a:avLst/>
            <a:gdLst/>
            <a:ahLst/>
            <a:cxnLst/>
            <a:rect r="r" b="b" t="t" l="l"/>
            <a:pathLst>
              <a:path h="223451" w="299022">
                <a:moveTo>
                  <a:pt x="0" y="0"/>
                </a:moveTo>
                <a:lnTo>
                  <a:pt x="299022" y="0"/>
                </a:lnTo>
                <a:lnTo>
                  <a:pt x="299022" y="223451"/>
                </a:lnTo>
                <a:lnTo>
                  <a:pt x="0" y="2234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17935" y="4738097"/>
            <a:ext cx="7772952" cy="3688030"/>
          </a:xfrm>
          <a:custGeom>
            <a:avLst/>
            <a:gdLst/>
            <a:ahLst/>
            <a:cxnLst/>
            <a:rect r="r" b="b" t="t" l="l"/>
            <a:pathLst>
              <a:path h="3688030" w="7772952">
                <a:moveTo>
                  <a:pt x="0" y="0"/>
                </a:moveTo>
                <a:lnTo>
                  <a:pt x="7772952" y="0"/>
                </a:lnTo>
                <a:lnTo>
                  <a:pt x="7772952" y="3688030"/>
                </a:lnTo>
                <a:lnTo>
                  <a:pt x="0" y="36880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1630" y="4096943"/>
            <a:ext cx="8005740" cy="3530787"/>
          </a:xfrm>
          <a:custGeom>
            <a:avLst/>
            <a:gdLst/>
            <a:ahLst/>
            <a:cxnLst/>
            <a:rect r="r" b="b" t="t" l="l"/>
            <a:pathLst>
              <a:path h="3530787" w="8005740">
                <a:moveTo>
                  <a:pt x="0" y="0"/>
                </a:moveTo>
                <a:lnTo>
                  <a:pt x="8005740" y="0"/>
                </a:lnTo>
                <a:lnTo>
                  <a:pt x="8005740" y="3530788"/>
                </a:lnTo>
                <a:lnTo>
                  <a:pt x="0" y="3530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22490" y="972855"/>
            <a:ext cx="8331522" cy="1362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4"/>
              </a:lnSpc>
            </a:pPr>
            <a:r>
              <a:rPr lang="en-US" b="true" sz="5726" spc="-429">
                <a:solidFill>
                  <a:srgbClr val="FFFFFF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LEITERPLATTEN-</a:t>
            </a:r>
          </a:p>
          <a:p>
            <a:pPr algn="l" marL="0" indent="0" lvl="0">
              <a:lnSpc>
                <a:spcPts val="5154"/>
              </a:lnSpc>
            </a:pPr>
            <a:r>
              <a:rPr lang="en-US" b="true" sz="5726" spc="-429">
                <a:solidFill>
                  <a:srgbClr val="FFFFFF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VISUALISIERUNG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17935" y="2615432"/>
            <a:ext cx="6422543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  <a:spcBef>
                <a:spcPct val="0"/>
              </a:spcBef>
            </a:pPr>
            <a:r>
              <a:rPr lang="en-US" b="true" sz="1798" spc="-3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LEITERPL</a:t>
            </a:r>
            <a:r>
              <a:rPr lang="en-US" b="true" sz="1798" spc="-35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ATTEN-VISUALISIERUNG AM-EMPFÄNGER PCB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17935" y="3350794"/>
            <a:ext cx="4304071" cy="67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66"/>
              </a:lnSpc>
              <a:spcBef>
                <a:spcPct val="0"/>
              </a:spcBef>
            </a:pPr>
            <a:r>
              <a:rPr lang="en-US" sz="1333" spc="-26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Die KiCad-3D-Renderings zeigen die vollständige Bauteilplatzierung auf der Ober- und Unterseite der Leiterplatte.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37370" y="791880"/>
            <a:ext cx="1555408" cy="213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866"/>
              </a:lnSpc>
              <a:spcBef>
                <a:spcPct val="0"/>
              </a:spcBef>
            </a:pPr>
            <a:r>
              <a:rPr lang="en-US" b="true" sz="1333" spc="-26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3D RENDERS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77895" y="8133930"/>
            <a:ext cx="4746961" cy="89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66"/>
              </a:lnSpc>
              <a:spcBef>
                <a:spcPct val="0"/>
              </a:spcBef>
            </a:pPr>
            <a:r>
              <a:rPr lang="en-US" sz="1333" spc="-26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Das obere Rendering zeigt die Platzierung von HF-Eingang, Mischer/Oszillator, ZF-Filter, Demodulator-IC, Abstimmelementen, Audiostufe, Lautsprecheranschluss und Stromversorgungsanschluss.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80381" y="8854752"/>
            <a:ext cx="5201822" cy="442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66"/>
              </a:lnSpc>
              <a:spcBef>
                <a:spcPct val="0"/>
              </a:spcBef>
            </a:pPr>
            <a:r>
              <a:rPr lang="en-US" sz="1333" spc="-26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Die Rückseite zeigt die Unterseitenführung, Vias, Befestigungsbohrungen und mechanische Freiräume.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40479" y="782355"/>
            <a:ext cx="1118821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-2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59603" y="8356965"/>
            <a:ext cx="750914" cy="478891"/>
          </a:xfrm>
          <a:custGeom>
            <a:avLst/>
            <a:gdLst/>
            <a:ahLst/>
            <a:cxnLst/>
            <a:rect r="r" b="b" t="t" l="l"/>
            <a:pathLst>
              <a:path h="478891" w="750914">
                <a:moveTo>
                  <a:pt x="0" y="0"/>
                </a:moveTo>
                <a:lnTo>
                  <a:pt x="750914" y="0"/>
                </a:lnTo>
                <a:lnTo>
                  <a:pt x="750914" y="478891"/>
                </a:lnTo>
                <a:lnTo>
                  <a:pt x="0" y="4788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078151" y="8326353"/>
            <a:ext cx="451786" cy="495791"/>
          </a:xfrm>
          <a:custGeom>
            <a:avLst/>
            <a:gdLst/>
            <a:ahLst/>
            <a:cxnLst/>
            <a:rect r="r" b="b" t="t" l="l"/>
            <a:pathLst>
              <a:path h="495791" w="451786">
                <a:moveTo>
                  <a:pt x="0" y="0"/>
                </a:moveTo>
                <a:lnTo>
                  <a:pt x="451786" y="0"/>
                </a:lnTo>
                <a:lnTo>
                  <a:pt x="451786" y="495790"/>
                </a:lnTo>
                <a:lnTo>
                  <a:pt x="0" y="4957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705471" y="8377699"/>
            <a:ext cx="438691" cy="468845"/>
          </a:xfrm>
          <a:custGeom>
            <a:avLst/>
            <a:gdLst/>
            <a:ahLst/>
            <a:cxnLst/>
            <a:rect r="r" b="b" t="t" l="l"/>
            <a:pathLst>
              <a:path h="468845" w="438691">
                <a:moveTo>
                  <a:pt x="0" y="0"/>
                </a:moveTo>
                <a:lnTo>
                  <a:pt x="438691" y="0"/>
                </a:lnTo>
                <a:lnTo>
                  <a:pt x="438691" y="468845"/>
                </a:lnTo>
                <a:lnTo>
                  <a:pt x="0" y="4688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5" id="5"/>
          <p:cNvSpPr/>
          <p:nvPr/>
        </p:nvSpPr>
        <p:spPr>
          <a:xfrm>
            <a:off x="5198971" y="5601000"/>
            <a:ext cx="7890057" cy="0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5198971" y="7265104"/>
            <a:ext cx="7890057" cy="0"/>
          </a:xfrm>
          <a:prstGeom prst="line">
            <a:avLst/>
          </a:prstGeom>
          <a:ln cap="flat" w="9525">
            <a:solidFill>
              <a:srgbClr val="FFFFFF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028700" y="6329709"/>
            <a:ext cx="3349124" cy="2928591"/>
            <a:chOff x="0" y="0"/>
            <a:chExt cx="518867" cy="4537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8867" cy="453715"/>
            </a:xfrm>
            <a:custGeom>
              <a:avLst/>
              <a:gdLst/>
              <a:ahLst/>
              <a:cxnLst/>
              <a:rect r="r" b="b" t="t" l="l"/>
              <a:pathLst>
                <a:path h="453715" w="518867">
                  <a:moveTo>
                    <a:pt x="80907" y="0"/>
                  </a:moveTo>
                  <a:lnTo>
                    <a:pt x="437960" y="0"/>
                  </a:lnTo>
                  <a:cubicBezTo>
                    <a:pt x="482644" y="0"/>
                    <a:pt x="518867" y="36223"/>
                    <a:pt x="518867" y="80907"/>
                  </a:cubicBezTo>
                  <a:lnTo>
                    <a:pt x="518867" y="372808"/>
                  </a:lnTo>
                  <a:cubicBezTo>
                    <a:pt x="518867" y="417492"/>
                    <a:pt x="482644" y="453715"/>
                    <a:pt x="437960" y="453715"/>
                  </a:cubicBezTo>
                  <a:lnTo>
                    <a:pt x="80907" y="453715"/>
                  </a:lnTo>
                  <a:cubicBezTo>
                    <a:pt x="36223" y="453715"/>
                    <a:pt x="0" y="417492"/>
                    <a:pt x="0" y="372808"/>
                  </a:cubicBezTo>
                  <a:lnTo>
                    <a:pt x="0" y="80907"/>
                  </a:lnTo>
                  <a:cubicBezTo>
                    <a:pt x="0" y="36223"/>
                    <a:pt x="36223" y="0"/>
                    <a:pt x="80907" y="0"/>
                  </a:cubicBezTo>
                  <a:close/>
                </a:path>
              </a:pathLst>
            </a:custGeom>
            <a:blipFill>
              <a:blip r:embed="rId5"/>
              <a:stretch>
                <a:fillRect l="-39" t="0" r="-39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908179" y="6329709"/>
            <a:ext cx="3351121" cy="2928591"/>
            <a:chOff x="0" y="0"/>
            <a:chExt cx="519176" cy="4537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9176" cy="453715"/>
            </a:xfrm>
            <a:custGeom>
              <a:avLst/>
              <a:gdLst/>
              <a:ahLst/>
              <a:cxnLst/>
              <a:rect r="r" b="b" t="t" l="l"/>
              <a:pathLst>
                <a:path h="453715" w="519176">
                  <a:moveTo>
                    <a:pt x="80859" y="0"/>
                  </a:moveTo>
                  <a:lnTo>
                    <a:pt x="438318" y="0"/>
                  </a:lnTo>
                  <a:cubicBezTo>
                    <a:pt x="459763" y="0"/>
                    <a:pt x="480329" y="8519"/>
                    <a:pt x="495493" y="23683"/>
                  </a:cubicBezTo>
                  <a:cubicBezTo>
                    <a:pt x="510657" y="38847"/>
                    <a:pt x="519176" y="59414"/>
                    <a:pt x="519176" y="80859"/>
                  </a:cubicBezTo>
                  <a:lnTo>
                    <a:pt x="519176" y="372857"/>
                  </a:lnTo>
                  <a:cubicBezTo>
                    <a:pt x="519176" y="417514"/>
                    <a:pt x="482975" y="453715"/>
                    <a:pt x="438318" y="453715"/>
                  </a:cubicBezTo>
                  <a:lnTo>
                    <a:pt x="80859" y="453715"/>
                  </a:lnTo>
                  <a:cubicBezTo>
                    <a:pt x="36202" y="453715"/>
                    <a:pt x="0" y="417514"/>
                    <a:pt x="0" y="372857"/>
                  </a:cubicBezTo>
                  <a:lnTo>
                    <a:pt x="0" y="80859"/>
                  </a:lnTo>
                  <a:cubicBezTo>
                    <a:pt x="0" y="36202"/>
                    <a:pt x="36202" y="0"/>
                    <a:pt x="80859" y="0"/>
                  </a:cubicBezTo>
                  <a:close/>
                </a:path>
              </a:pathLst>
            </a:custGeom>
            <a:blipFill>
              <a:blip r:embed="rId6"/>
              <a:stretch>
                <a:fillRect l="-81" t="0" r="-81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908179" y="2057400"/>
            <a:ext cx="3351121" cy="3538838"/>
            <a:chOff x="0" y="0"/>
            <a:chExt cx="5960491" cy="62943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-44"/>
              <a:ext cx="5960480" cy="6294418"/>
            </a:xfrm>
            <a:custGeom>
              <a:avLst/>
              <a:gdLst/>
              <a:ahLst/>
              <a:cxnLst/>
              <a:rect r="r" b="b" t="t" l="l"/>
              <a:pathLst>
                <a:path h="6294418" w="5960480">
                  <a:moveTo>
                    <a:pt x="4226814" y="1119549"/>
                  </a:moveTo>
                  <a:cubicBezTo>
                    <a:pt x="4173601" y="967911"/>
                    <a:pt x="4001770" y="815892"/>
                    <a:pt x="3844798" y="781729"/>
                  </a:cubicBezTo>
                  <a:lnTo>
                    <a:pt x="285369" y="6521"/>
                  </a:lnTo>
                  <a:cubicBezTo>
                    <a:pt x="128397" y="-27642"/>
                    <a:pt x="0" y="75863"/>
                    <a:pt x="0" y="236518"/>
                  </a:cubicBezTo>
                  <a:lnTo>
                    <a:pt x="0" y="6002318"/>
                  </a:lnTo>
                  <a:cubicBezTo>
                    <a:pt x="0" y="6162973"/>
                    <a:pt x="131445" y="6294418"/>
                    <a:pt x="292100" y="6294418"/>
                  </a:cubicBezTo>
                  <a:lnTo>
                    <a:pt x="5749544" y="6294418"/>
                  </a:lnTo>
                  <a:cubicBezTo>
                    <a:pt x="5910199" y="6294418"/>
                    <a:pt x="5998083" y="6170339"/>
                    <a:pt x="5944997" y="6018828"/>
                  </a:cubicBezTo>
                  <a:lnTo>
                    <a:pt x="4226814" y="1119549"/>
                  </a:lnTo>
                  <a:close/>
                </a:path>
              </a:pathLst>
            </a:custGeom>
            <a:blipFill>
              <a:blip r:embed="rId7"/>
              <a:stretch>
                <a:fillRect l="0" t="-36" r="0" b="-36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28700" y="2057400"/>
            <a:ext cx="3349124" cy="3655568"/>
            <a:chOff x="0" y="0"/>
            <a:chExt cx="5767070" cy="62947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3" y="61"/>
              <a:ext cx="5767048" cy="6294694"/>
            </a:xfrm>
            <a:custGeom>
              <a:avLst/>
              <a:gdLst/>
              <a:ahLst/>
              <a:cxnLst/>
              <a:rect r="r" b="b" t="t" l="l"/>
              <a:pathLst>
                <a:path h="6294694" w="5767048">
                  <a:moveTo>
                    <a:pt x="5481678" y="655513"/>
                  </a:moveTo>
                  <a:cubicBezTo>
                    <a:pt x="5638650" y="689676"/>
                    <a:pt x="5767047" y="849061"/>
                    <a:pt x="5767047" y="1009716"/>
                  </a:cubicBezTo>
                  <a:lnTo>
                    <a:pt x="5767047" y="6002594"/>
                  </a:lnTo>
                  <a:cubicBezTo>
                    <a:pt x="5767047" y="6163249"/>
                    <a:pt x="5635602" y="6294694"/>
                    <a:pt x="5474947" y="6294694"/>
                  </a:cubicBezTo>
                  <a:lnTo>
                    <a:pt x="209019" y="6294694"/>
                  </a:lnTo>
                  <a:cubicBezTo>
                    <a:pt x="48364" y="6294694"/>
                    <a:pt x="-38250" y="6171123"/>
                    <a:pt x="16360" y="6020120"/>
                  </a:cubicBezTo>
                  <a:lnTo>
                    <a:pt x="2117829" y="219395"/>
                  </a:lnTo>
                  <a:cubicBezTo>
                    <a:pt x="2172566" y="68392"/>
                    <a:pt x="2345794" y="-27239"/>
                    <a:pt x="2502766" y="6924"/>
                  </a:cubicBezTo>
                  <a:lnTo>
                    <a:pt x="5481678" y="655513"/>
                  </a:lnTo>
                  <a:close/>
                </a:path>
              </a:pathLst>
            </a:custGeom>
            <a:blipFill>
              <a:blip r:embed="rId8"/>
              <a:stretch>
                <a:fillRect l="0" t="-64" r="0" b="-64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5021503" y="2687728"/>
            <a:ext cx="8242996" cy="2148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32"/>
              </a:lnSpc>
            </a:pPr>
            <a:r>
              <a:rPr lang="en-US" b="true" sz="6146" spc="-461">
                <a:solidFill>
                  <a:srgbClr val="FFFFFF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VIELEN DANK FÜR</a:t>
            </a:r>
          </a:p>
          <a:p>
            <a:pPr algn="ctr" marL="0" indent="0" lvl="0">
              <a:lnSpc>
                <a:spcPts val="5532"/>
              </a:lnSpc>
            </a:pPr>
            <a:r>
              <a:rPr lang="en-US" b="true" sz="6146" spc="-461">
                <a:solidFill>
                  <a:srgbClr val="FFFFFF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IHRE AUFMERKSAMKEIT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98971" y="6184132"/>
            <a:ext cx="7890057" cy="617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81"/>
              </a:lnSpc>
              <a:spcBef>
                <a:spcPct val="0"/>
              </a:spcBef>
            </a:pPr>
            <a:r>
              <a:rPr lang="en-US" sz="1201" spc="-2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AM-Empfänger-PCB — Ein zweilagiges Leiterplattendesign für einen Radioempfänger mit JFET-HF-Verstärkung, SA612AD-Mischer-/Oszillatorstufen, PLL-/VCO-Abstimmung, 455-kHz-ZF-Filterung, TDA1072AT-Demodulation und einer diskreten Transistor-Audioausgangsstufe.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56091" y="9027160"/>
            <a:ext cx="1775817" cy="198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1"/>
              </a:lnSpc>
              <a:spcBef>
                <a:spcPct val="0"/>
              </a:spcBef>
            </a:pPr>
            <a:r>
              <a:rPr lang="en-US" sz="1201" spc="-2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PCB-LAYOUT </a:t>
            </a:r>
            <a:r>
              <a:rPr lang="en-US" sz="1201" spc="-24" strike="noStrike" u="none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REV. 1.0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457594" y="9027160"/>
            <a:ext cx="1692900" cy="198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1"/>
              </a:lnSpc>
              <a:spcBef>
                <a:spcPct val="0"/>
              </a:spcBef>
            </a:pPr>
            <a:r>
              <a:rPr lang="en-US" sz="1201" spc="-24" strike="noStrike" u="none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SCHALTPLAN-DESIGN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136809" y="9027160"/>
            <a:ext cx="1696621" cy="198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1"/>
              </a:lnSpc>
              <a:spcBef>
                <a:spcPct val="0"/>
              </a:spcBef>
            </a:pPr>
            <a:r>
              <a:rPr lang="en-US" sz="1201" spc="-24" strike="noStrike" u="none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AM-EMPFÄNGER PCB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8338348" y="805249"/>
            <a:ext cx="299022" cy="223451"/>
          </a:xfrm>
          <a:custGeom>
            <a:avLst/>
            <a:gdLst/>
            <a:ahLst/>
            <a:cxnLst/>
            <a:rect r="r" b="b" t="t" l="l"/>
            <a:pathLst>
              <a:path h="223451" w="299022">
                <a:moveTo>
                  <a:pt x="0" y="0"/>
                </a:moveTo>
                <a:lnTo>
                  <a:pt x="299022" y="0"/>
                </a:lnTo>
                <a:lnTo>
                  <a:pt x="299022" y="223451"/>
                </a:lnTo>
                <a:lnTo>
                  <a:pt x="0" y="2234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637370" y="791880"/>
            <a:ext cx="1675108" cy="198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81"/>
              </a:lnSpc>
              <a:spcBef>
                <a:spcPct val="0"/>
              </a:spcBef>
            </a:pPr>
            <a:r>
              <a:rPr lang="en-US" b="true" sz="1201" spc="-24">
                <a:solidFill>
                  <a:srgbClr val="F2F1FF"/>
                </a:solidFill>
                <a:latin typeface="Garet Bold"/>
                <a:ea typeface="Garet Bold"/>
                <a:cs typeface="Garet Bold"/>
                <a:sym typeface="Garet Bold"/>
              </a:rPr>
              <a:t>AM-EMPFÄNGER PCB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140479" y="782355"/>
            <a:ext cx="1118821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pc="-2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9</a:t>
            </a:r>
            <a:r>
              <a:rPr lang="en-US" sz="1200" spc="-24">
                <a:solidFill>
                  <a:srgbClr val="F2F1FF"/>
                </a:solidFill>
                <a:latin typeface="Garet"/>
                <a:ea typeface="Garet"/>
                <a:cs typeface="Garet"/>
                <a:sym typeface="Garet"/>
              </a:rPr>
              <a:t>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DAHOmo2-UzQ</dc:identifier>
  <dcterms:modified xsi:type="dcterms:W3CDTF">2011-08-01T06:04:30Z</dcterms:modified>
  <cp:revision>1</cp:revision>
  <dc:title>Audio Output</dc:title>
</cp:coreProperties>
</file>